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92"/>
  </p:normalViewPr>
  <p:slideViewPr>
    <p:cSldViewPr snapToGrid="0" snapToObjects="1">
      <p:cViewPr varScale="1">
        <p:scale>
          <a:sx n="114" d="100"/>
          <a:sy n="114" d="100"/>
        </p:scale>
        <p:origin x="6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Scalability &amp; Resilience in a
Cloud-Native Microservice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2834640"/>
            <a:ext cx="7616952" cy="1371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8CFF"/>
                </a:solidFill>
              </a:rPr>
              <a:t>Mayank Tamakuwala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3601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CCD6E0"/>
                </a:solidFill>
              </a:rPr>
              <a:t>CS 6650 </a:t>
            </a:r>
            <a:r>
              <a:rPr lang="en-US" sz="1600" b="0" i="0" dirty="0">
                <a:solidFill>
                  <a:srgbClr val="CCD6E0"/>
                </a:solidFill>
              </a:rPr>
              <a:t>–</a:t>
            </a:r>
            <a:r>
              <a:rPr sz="1600" b="0" i="0" dirty="0">
                <a:solidFill>
                  <a:srgbClr val="CCD6E0"/>
                </a:solidFill>
              </a:rPr>
              <a:t> </a:t>
            </a:r>
            <a:r>
              <a:rPr lang="en-US" sz="1600" b="0" i="0" dirty="0">
                <a:solidFill>
                  <a:srgbClr val="CCD6E0"/>
                </a:solidFill>
              </a:rPr>
              <a:t>Building Scalable </a:t>
            </a:r>
            <a:r>
              <a:rPr sz="1600" b="0" i="0" dirty="0">
                <a:solidFill>
                  <a:srgbClr val="CCD6E0"/>
                </a:solidFill>
              </a:rPr>
              <a:t>Distributed System</a:t>
            </a:r>
            <a:r>
              <a:rPr lang="en-US" sz="1600" b="0" i="0" dirty="0">
                <a:solidFill>
                  <a:srgbClr val="CCD6E0"/>
                </a:solidFill>
              </a:rPr>
              <a:t>s</a:t>
            </a:r>
            <a:endParaRPr sz="1600" b="0" i="0" dirty="0">
              <a:solidFill>
                <a:srgbClr val="CCD6E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CCD6E0"/>
                </a:solidFill>
              </a:rPr>
              <a:t>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 dirty="0">
                <a:solidFill>
                  <a:srgbClr val="55AAFF"/>
                </a:solidFill>
              </a:rPr>
              <a:t>AWS ECS Fargate  ·  ALB  ·  CloudWatch  ·  Locust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18288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371600" cy="502920"/>
          </a:xfrm>
          <a:prstGeom prst="rect">
            <a:avLst/>
          </a:prstGeom>
          <a:solidFill>
            <a:srgbClr val="1A3A5C"/>
          </a:solidFill>
          <a:ln w="1905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527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👤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783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8CFF"/>
                </a:solidFill>
              </a:rPr>
              <a:t>↓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1737360" cy="548640"/>
          </a:xfrm>
          <a:prstGeom prst="rect">
            <a:avLst/>
          </a:prstGeom>
          <a:solidFill>
            <a:srgbClr val="0A4E6E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17627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C12"/>
                </a:solidFill>
              </a:rPr>
              <a:t>Application
Load Balancer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43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8CFF"/>
                </a:solidFill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063240"/>
            <a:ext cx="2103120" cy="1828800"/>
          </a:xfrm>
          <a:prstGeom prst="rect">
            <a:avLst/>
          </a:prstGeom>
          <a:solidFill>
            <a:srgbClr val="0D2B45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30906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ECS Cluster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3429000"/>
            <a:ext cx="914400" cy="548640"/>
          </a:xfrm>
          <a:prstGeom prst="rect">
            <a:avLst/>
          </a:prstGeom>
          <a:solidFill>
            <a:srgbClr val="005F9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35387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Task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89888" y="3429000"/>
            <a:ext cx="914400" cy="548640"/>
          </a:xfrm>
          <a:prstGeom prst="rect">
            <a:avLst/>
          </a:prstGeom>
          <a:solidFill>
            <a:srgbClr val="005F9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89888" y="35387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Task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4160520"/>
            <a:ext cx="914400" cy="548640"/>
          </a:xfrm>
          <a:prstGeom prst="rect">
            <a:avLst/>
          </a:prstGeom>
          <a:solidFill>
            <a:srgbClr val="005F9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42702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Task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89888" y="4160520"/>
            <a:ext cx="914400" cy="548640"/>
          </a:xfrm>
          <a:prstGeom prst="rect">
            <a:avLst/>
          </a:prstGeom>
          <a:solidFill>
            <a:srgbClr val="005F9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89888" y="42702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Task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3274667"/>
            <a:ext cx="1554480" cy="502920"/>
          </a:xfrm>
          <a:prstGeom prst="rect">
            <a:avLst/>
          </a:prstGeom>
          <a:solidFill>
            <a:srgbClr val="3B1700"/>
          </a:solidFill>
          <a:ln w="1651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51760" y="3320387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39C12"/>
                </a:solidFill>
              </a:rPr>
              <a:t>⚡ Auto Scaling
(CPU &gt; 70%)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3832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39C12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40781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39C12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3270653"/>
            <a:ext cx="1554480" cy="502920"/>
          </a:xfrm>
          <a:prstGeom prst="rect">
            <a:avLst/>
          </a:prstGeom>
          <a:solidFill>
            <a:srgbClr val="003B00"/>
          </a:solidFill>
          <a:ln w="1651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80560" y="3316373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📈 Scale Out
(2→4 Tasks)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4572000"/>
            <a:ext cx="3383280" cy="640080"/>
          </a:xfrm>
          <a:prstGeom prst="rect">
            <a:avLst/>
          </a:prstGeom>
          <a:solidFill>
            <a:srgbClr val="1A004A"/>
          </a:solidFill>
          <a:ln w="16510">
            <a:solidFill>
              <a:srgbClr val="AA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14600" y="464515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A88FF"/>
                </a:solidFill>
              </a:rPr>
              <a:t>📊 CloudWatch — CPU · Memory · RPS · Latency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1005840"/>
            <a:ext cx="530352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u="sng" dirty="0">
                <a:solidFill>
                  <a:srgbClr val="008CFF"/>
                </a:solidFill>
              </a:rPr>
              <a:t>Components</a:t>
            </a:r>
          </a:p>
          <a:p>
            <a:pPr algn="l">
              <a:spcBef>
                <a:spcPts val="600"/>
              </a:spcBef>
            </a:pPr>
            <a:r>
              <a:rPr sz="1500" dirty="0">
                <a:solidFill>
                  <a:srgbClr val="FFFFFF"/>
                </a:solidFill>
              </a:rPr>
              <a:t>• ECS Fargate </a:t>
            </a:r>
            <a:r>
              <a:rPr lang="en-US" sz="1500" dirty="0">
                <a:solidFill>
                  <a:srgbClr val="FFFFFF"/>
                </a:solidFill>
              </a:rPr>
              <a:t>- </a:t>
            </a:r>
            <a:r>
              <a:rPr sz="1500" dirty="0">
                <a:solidFill>
                  <a:srgbClr val="FFFFFF"/>
                </a:solidFill>
              </a:rPr>
              <a:t>serverless containers</a:t>
            </a:r>
          </a:p>
          <a:p>
            <a:pPr algn="l">
              <a:spcBef>
                <a:spcPts val="600"/>
              </a:spcBef>
            </a:pPr>
            <a:r>
              <a:rPr sz="1500" dirty="0">
                <a:solidFill>
                  <a:srgbClr val="FFFFFF"/>
                </a:solidFill>
              </a:rPr>
              <a:t>  (no EC2 management)</a:t>
            </a:r>
          </a:p>
          <a:p>
            <a:pPr algn="l">
              <a:spcBef>
                <a:spcPts val="600"/>
              </a:spcBef>
            </a:pPr>
            <a:endParaRPr sz="1500" dirty="0">
              <a:solidFill>
                <a:srgbClr val="FFFFFF"/>
              </a:solidFill>
            </a:endParaRPr>
          </a:p>
          <a:p>
            <a:pPr algn="l">
              <a:spcBef>
                <a:spcPts val="600"/>
              </a:spcBef>
            </a:pPr>
            <a:r>
              <a:rPr sz="1500" dirty="0">
                <a:solidFill>
                  <a:srgbClr val="FFFFFF"/>
                </a:solidFill>
              </a:rPr>
              <a:t>• Application Load Balancer</a:t>
            </a:r>
          </a:p>
          <a:p>
            <a:pPr algn="l">
              <a:spcBef>
                <a:spcPts val="600"/>
              </a:spcBef>
            </a:pPr>
            <a:r>
              <a:rPr sz="1500" dirty="0">
                <a:solidFill>
                  <a:srgbClr val="FFFFFF"/>
                </a:solidFill>
              </a:rPr>
              <a:t>  (distributes traffic across tasks)</a:t>
            </a:r>
          </a:p>
          <a:p>
            <a:pPr algn="l">
              <a:spcBef>
                <a:spcPts val="600"/>
              </a:spcBef>
            </a:pPr>
            <a:endParaRPr sz="1500" dirty="0">
              <a:solidFill>
                <a:srgbClr val="FFFFFF"/>
              </a:solidFill>
            </a:endParaRPr>
          </a:p>
          <a:p>
            <a:pPr algn="l">
              <a:spcBef>
                <a:spcPts val="600"/>
              </a:spcBef>
            </a:pPr>
            <a:r>
              <a:rPr sz="1500" dirty="0">
                <a:solidFill>
                  <a:srgbClr val="FFFFFF"/>
                </a:solidFill>
              </a:rPr>
              <a:t>• Auto Scaling </a:t>
            </a:r>
            <a:r>
              <a:rPr lang="en-US" sz="1500" dirty="0">
                <a:solidFill>
                  <a:srgbClr val="FFFFFF"/>
                </a:solidFill>
              </a:rPr>
              <a:t>- </a:t>
            </a:r>
            <a:r>
              <a:rPr sz="1500" dirty="0">
                <a:solidFill>
                  <a:srgbClr val="FFFFFF"/>
                </a:solidFill>
              </a:rPr>
              <a:t>CPU target 70%</a:t>
            </a:r>
          </a:p>
          <a:p>
            <a:pPr algn="l">
              <a:spcBef>
                <a:spcPts val="600"/>
              </a:spcBef>
            </a:pPr>
            <a:r>
              <a:rPr sz="1500" dirty="0">
                <a:solidFill>
                  <a:srgbClr val="FFFFFF"/>
                </a:solidFill>
              </a:rPr>
              <a:t>  (scales 2 → 4 tasks under load)</a:t>
            </a:r>
          </a:p>
          <a:p>
            <a:pPr algn="l">
              <a:spcBef>
                <a:spcPts val="600"/>
              </a:spcBef>
            </a:pPr>
            <a:endParaRPr sz="1500" dirty="0">
              <a:solidFill>
                <a:srgbClr val="FFFFFF"/>
              </a:solidFill>
            </a:endParaRPr>
          </a:p>
          <a:p>
            <a:pPr algn="l">
              <a:spcBef>
                <a:spcPts val="600"/>
              </a:spcBef>
            </a:pPr>
            <a:r>
              <a:rPr sz="1500" dirty="0">
                <a:solidFill>
                  <a:srgbClr val="FFFFFF"/>
                </a:solidFill>
              </a:rPr>
              <a:t>• CloudWatch </a:t>
            </a:r>
            <a:r>
              <a:rPr lang="en-US" sz="1500" dirty="0">
                <a:solidFill>
                  <a:srgbClr val="FFFFFF"/>
                </a:solidFill>
              </a:rPr>
              <a:t>- </a:t>
            </a:r>
            <a:r>
              <a:rPr sz="1500" dirty="0">
                <a:solidFill>
                  <a:srgbClr val="FFFFFF"/>
                </a:solidFill>
              </a:rPr>
              <a:t>real-time metrics</a:t>
            </a:r>
          </a:p>
          <a:p>
            <a:pPr algn="l">
              <a:spcBef>
                <a:spcPts val="600"/>
              </a:spcBef>
            </a:pPr>
            <a:r>
              <a:rPr sz="1500" dirty="0">
                <a:solidFill>
                  <a:srgbClr val="FFFFFF"/>
                </a:solidFill>
              </a:rPr>
              <a:t>  (CPU, Memory, RPS, Latency)</a:t>
            </a:r>
          </a:p>
          <a:p>
            <a:pPr algn="l">
              <a:spcBef>
                <a:spcPts val="600"/>
              </a:spcBef>
            </a:pPr>
            <a:endParaRPr sz="1500" dirty="0">
              <a:solidFill>
                <a:srgbClr val="FFFFFF"/>
              </a:solidFill>
            </a:endParaRPr>
          </a:p>
          <a:p>
            <a:pPr algn="l">
              <a:spcBef>
                <a:spcPts val="600"/>
              </a:spcBef>
            </a:pPr>
            <a:r>
              <a:rPr sz="1500" dirty="0">
                <a:solidFill>
                  <a:srgbClr val="FFFFFF"/>
                </a:solidFill>
              </a:rPr>
              <a:t>• Locust load testing</a:t>
            </a:r>
          </a:p>
          <a:p>
            <a:pPr algn="l">
              <a:spcBef>
                <a:spcPts val="600"/>
              </a:spcBef>
            </a:pPr>
            <a:r>
              <a:rPr sz="1500" dirty="0">
                <a:solidFill>
                  <a:srgbClr val="FFFFFF"/>
                </a:solidFill>
              </a:rPr>
              <a:t>  (progressive: 500 → 3000 users)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Stress Testing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18288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u="sng">
                <a:solidFill>
                  <a:srgbClr val="008CFF"/>
                </a:solidFill>
              </a:rPr>
              <a:t>Test Parameters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• Progressive load ramp-up strategy</a:t>
            </a:r>
          </a:p>
          <a:p>
            <a:pPr algn="l">
              <a:spcBef>
                <a:spcPts val="600"/>
              </a:spcBef>
            </a:pPr>
            <a:endParaRPr sz="1600">
              <a:solidFill>
                <a:srgbClr val="FFFFFF"/>
              </a:solidFill>
            </a:endParaRP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• Simulated users: 500 → 3,000</a:t>
            </a:r>
          </a:p>
          <a:p>
            <a:pPr algn="l">
              <a:spcBef>
                <a:spcPts val="600"/>
              </a:spcBef>
            </a:pPr>
            <a:endParaRPr sz="1600">
              <a:solidFill>
                <a:srgbClr val="FFFFFF"/>
              </a:solidFill>
            </a:endParaRP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• Requests per second: 50 → 200</a:t>
            </a:r>
          </a:p>
          <a:p>
            <a:pPr algn="l">
              <a:spcBef>
                <a:spcPts val="600"/>
              </a:spcBef>
            </a:pPr>
            <a:endParaRPr sz="1600">
              <a:solidFill>
                <a:srgbClr val="FFFFFF"/>
              </a:solidFill>
            </a:endParaRP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• Spawn rate: 10 users/second</a:t>
            </a:r>
          </a:p>
          <a:p>
            <a:pPr algn="l">
              <a:spcBef>
                <a:spcPts val="600"/>
              </a:spcBef>
            </a:pPr>
            <a:endParaRPr sz="1600">
              <a:solidFill>
                <a:srgbClr val="FFFFFF"/>
              </a:solidFill>
            </a:endParaRP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• Metrics observed: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  – CPU utilization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  – Memory usage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  – Requests per second (RPS)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  – Response latency (avg &amp; p95)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  – Failure count &amp; rate</a:t>
            </a:r>
          </a:p>
          <a:p>
            <a:pPr algn="l">
              <a:spcBef>
                <a:spcPts val="600"/>
              </a:spcBef>
            </a:pPr>
            <a:endParaRPr sz="1600">
              <a:solidFill>
                <a:srgbClr val="FFFFFF"/>
              </a:solidFill>
            </a:endParaRP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• Tool: Locust (Python-based)</a:t>
            </a:r>
          </a:p>
        </p:txBody>
      </p:sp>
      <p:pic>
        <p:nvPicPr>
          <p:cNvPr id="9" name="Picture 8" descr="A screenshot of a test report&#10;&#10;AI-generated content may be incorrect.">
            <a:extLst>
              <a:ext uri="{FF2B5EF4-FFF2-40B4-BE49-F238E27FC236}">
                <a16:creationId xmlns:a16="http://schemas.microsoft.com/office/drawing/2014/main" id="{6AD6FB8F-A686-7681-D328-65A545CBD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612" y="1005840"/>
            <a:ext cx="6242453" cy="54943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CPU-Bound Bottleneck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18288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0" y="1005840"/>
            <a:ext cx="4114800" cy="527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400" dirty="0">
                <a:solidFill>
                  <a:srgbClr val="FFFFFF"/>
                </a:solidFill>
              </a:rPr>
              <a:t>Observation:</a:t>
            </a:r>
          </a:p>
          <a:p>
            <a:pPr algn="l">
              <a:spcBef>
                <a:spcPts val="600"/>
              </a:spcBef>
            </a:pPr>
            <a:endParaRPr sz="1400" dirty="0">
              <a:solidFill>
                <a:srgbClr val="FFFFFF"/>
              </a:solidFill>
            </a:endParaRPr>
          </a:p>
          <a:p>
            <a:pPr algn="l">
              <a:spcBef>
                <a:spcPts val="600"/>
              </a:spcBef>
            </a:pPr>
            <a:r>
              <a:rPr sz="1400" dirty="0">
                <a:solidFill>
                  <a:srgbClr val="FFFFFF"/>
                </a:solidFill>
              </a:rPr>
              <a:t>• CPU saturated at ~99%</a:t>
            </a:r>
          </a:p>
          <a:p>
            <a:pPr algn="l">
              <a:spcBef>
                <a:spcPts val="600"/>
              </a:spcBef>
            </a:pPr>
            <a:r>
              <a:rPr sz="1400" dirty="0">
                <a:solidFill>
                  <a:srgbClr val="FFFFFF"/>
                </a:solidFill>
              </a:rPr>
              <a:t>  under heavy load</a:t>
            </a:r>
          </a:p>
          <a:p>
            <a:pPr algn="l">
              <a:spcBef>
                <a:spcPts val="600"/>
              </a:spcBef>
            </a:pPr>
            <a:endParaRPr sz="1400" dirty="0">
              <a:solidFill>
                <a:srgbClr val="FFFFFF"/>
              </a:solidFill>
            </a:endParaRPr>
          </a:p>
          <a:p>
            <a:pPr algn="l">
              <a:spcBef>
                <a:spcPts val="600"/>
              </a:spcBef>
            </a:pPr>
            <a:r>
              <a:rPr sz="1400" dirty="0">
                <a:solidFill>
                  <a:srgbClr val="FFFFFF"/>
                </a:solidFill>
              </a:rPr>
              <a:t>• Memory remained stable</a:t>
            </a:r>
          </a:p>
          <a:p>
            <a:pPr algn="l">
              <a:spcBef>
                <a:spcPts val="600"/>
              </a:spcBef>
            </a:pPr>
            <a:r>
              <a:rPr sz="1400" dirty="0">
                <a:solidFill>
                  <a:srgbClr val="FFFFFF"/>
                </a:solidFill>
              </a:rPr>
              <a:t>  (~30%) </a:t>
            </a:r>
            <a:r>
              <a:rPr lang="en-US" sz="1400" dirty="0">
                <a:solidFill>
                  <a:srgbClr val="FFFFFF"/>
                </a:solidFill>
              </a:rPr>
              <a:t>-</a:t>
            </a:r>
            <a:r>
              <a:rPr sz="1400" dirty="0">
                <a:solidFill>
                  <a:srgbClr val="FFFFFF"/>
                </a:solidFill>
              </a:rPr>
              <a:t> NOT the bottleneck</a:t>
            </a:r>
          </a:p>
          <a:p>
            <a:pPr algn="l">
              <a:spcBef>
                <a:spcPts val="600"/>
              </a:spcBef>
            </a:pPr>
            <a:endParaRPr sz="1400" dirty="0">
              <a:solidFill>
                <a:srgbClr val="FFFFFF"/>
              </a:solidFill>
            </a:endParaRPr>
          </a:p>
          <a:p>
            <a:pPr algn="l">
              <a:spcBef>
                <a:spcPts val="600"/>
              </a:spcBef>
            </a:pPr>
            <a:r>
              <a:rPr sz="1400" dirty="0">
                <a:solidFill>
                  <a:srgbClr val="FFFFFF"/>
                </a:solidFill>
              </a:rPr>
              <a:t>• Throughput plateau:</a:t>
            </a:r>
          </a:p>
          <a:p>
            <a:pPr algn="l">
              <a:spcBef>
                <a:spcPts val="600"/>
              </a:spcBef>
            </a:pPr>
            <a:r>
              <a:rPr sz="1400" dirty="0">
                <a:solidFill>
                  <a:srgbClr val="FFFFFF"/>
                </a:solidFill>
              </a:rPr>
              <a:t>  RPS stops growing despite</a:t>
            </a:r>
          </a:p>
          <a:p>
            <a:pPr algn="l">
              <a:spcBef>
                <a:spcPts val="600"/>
              </a:spcBef>
            </a:pPr>
            <a:r>
              <a:rPr sz="1400" dirty="0">
                <a:solidFill>
                  <a:srgbClr val="FFFFFF"/>
                </a:solidFill>
              </a:rPr>
              <a:t>  more simulated users</a:t>
            </a:r>
          </a:p>
          <a:p>
            <a:pPr algn="l">
              <a:spcBef>
                <a:spcPts val="600"/>
              </a:spcBef>
            </a:pPr>
            <a:endParaRPr sz="1400" dirty="0">
              <a:solidFill>
                <a:srgbClr val="FFFFFF"/>
              </a:solidFill>
            </a:endParaRPr>
          </a:p>
          <a:p>
            <a:pPr algn="l">
              <a:spcBef>
                <a:spcPts val="600"/>
              </a:spcBef>
            </a:pPr>
            <a:r>
              <a:rPr sz="1400" dirty="0">
                <a:solidFill>
                  <a:srgbClr val="FFFFFF"/>
                </a:solidFill>
              </a:rPr>
              <a:t>• Latency climbed sharply</a:t>
            </a:r>
          </a:p>
          <a:p>
            <a:pPr algn="l">
              <a:spcBef>
                <a:spcPts val="600"/>
              </a:spcBef>
            </a:pPr>
            <a:r>
              <a:rPr sz="1400" dirty="0">
                <a:solidFill>
                  <a:srgbClr val="FFFFFF"/>
                </a:solidFill>
              </a:rPr>
              <a:t>  as CPU queues built up</a:t>
            </a:r>
          </a:p>
          <a:p>
            <a:pPr algn="l">
              <a:spcBef>
                <a:spcPts val="600"/>
              </a:spcBef>
            </a:pPr>
            <a:endParaRPr sz="1400" dirty="0">
              <a:solidFill>
                <a:srgbClr val="FFFFFF"/>
              </a:solidFill>
            </a:endParaRPr>
          </a:p>
          <a:p>
            <a:pPr algn="l">
              <a:spcBef>
                <a:spcPts val="600"/>
              </a:spcBef>
            </a:pPr>
            <a:r>
              <a:rPr sz="1400" dirty="0">
                <a:solidFill>
                  <a:srgbClr val="FFFFFF"/>
                </a:solidFill>
              </a:rPr>
              <a:t>Diagnosis:</a:t>
            </a:r>
          </a:p>
          <a:p>
            <a:pPr algn="l">
              <a:spcBef>
                <a:spcPts val="600"/>
              </a:spcBef>
            </a:pPr>
            <a:r>
              <a:rPr sz="1400" dirty="0">
                <a:solidFill>
                  <a:srgbClr val="FFFFFF"/>
                </a:solidFill>
              </a:rPr>
              <a:t>The service is CPU-bound.</a:t>
            </a:r>
          </a:p>
          <a:p>
            <a:pPr algn="l">
              <a:spcBef>
                <a:spcPts val="600"/>
              </a:spcBef>
            </a:pPr>
            <a:r>
              <a:rPr sz="1400" dirty="0">
                <a:solidFill>
                  <a:srgbClr val="FFFFFF"/>
                </a:solidFill>
              </a:rPr>
              <a:t>Solution → Horizontal Scaling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892040"/>
            <a:ext cx="3291840" cy="731520"/>
          </a:xfrm>
          <a:prstGeom prst="rect">
            <a:avLst/>
          </a:prstGeom>
          <a:solidFill>
            <a:srgbClr val="10221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937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CC71"/>
                </a:solidFill>
              </a:rPr>
              <a:t>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2303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~30%  ✔ Stable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4892040"/>
            <a:ext cx="3291840" cy="731520"/>
          </a:xfrm>
          <a:prstGeom prst="rect">
            <a:avLst/>
          </a:prstGeom>
          <a:solidFill>
            <a:srgbClr val="102200"/>
          </a:solidFill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0" y="4937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3B3B"/>
                </a:solidFill>
              </a:rPr>
              <a:t>Throughput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52303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Plateau  ✘ Flat</a:t>
            </a:r>
          </a:p>
        </p:txBody>
      </p:sp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F2C4CA-8F41-4656-4131-12C8B2CCE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7385"/>
            <a:ext cx="6949440" cy="36772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31759" y="290377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3B3B"/>
                </a:solidFill>
              </a:rPr>
              <a:t>CPU ≈ 99%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645920"/>
            <a:ext cx="2085278" cy="1532178"/>
          </a:xfrm>
          <a:prstGeom prst="rect">
            <a:avLst/>
          </a:prstGeom>
          <a:noFill/>
          <a:ln w="317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Auto Scaling in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182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0058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500" dirty="0">
                <a:solidFill>
                  <a:srgbClr val="FFFFFF"/>
                </a:solidFill>
              </a:rPr>
              <a:t>What Happened:</a:t>
            </a:r>
          </a:p>
          <a:p>
            <a:pPr algn="l">
              <a:spcBef>
                <a:spcPts val="600"/>
              </a:spcBef>
            </a:pPr>
            <a:endParaRPr sz="1500" dirty="0">
              <a:solidFill>
                <a:srgbClr val="FFFFFF"/>
              </a:solidFill>
            </a:endParaRPr>
          </a:p>
          <a:p>
            <a:pPr algn="l">
              <a:spcBef>
                <a:spcPts val="600"/>
              </a:spcBef>
            </a:pPr>
            <a:r>
              <a:rPr sz="1500" dirty="0">
                <a:solidFill>
                  <a:srgbClr val="FFFFFF"/>
                </a:solidFill>
              </a:rPr>
              <a:t>• Under load, CPU crossed 70%</a:t>
            </a:r>
          </a:p>
          <a:p>
            <a:pPr algn="l">
              <a:spcBef>
                <a:spcPts val="600"/>
              </a:spcBef>
            </a:pPr>
            <a:r>
              <a:rPr sz="1500" dirty="0">
                <a:solidFill>
                  <a:srgbClr val="FFFFFF"/>
                </a:solidFill>
              </a:rPr>
              <a:t>  threshold (Auto Scaling policy)</a:t>
            </a:r>
          </a:p>
          <a:p>
            <a:pPr algn="l">
              <a:spcBef>
                <a:spcPts val="600"/>
              </a:spcBef>
            </a:pPr>
            <a:endParaRPr sz="1500" dirty="0">
              <a:solidFill>
                <a:srgbClr val="FFFFFF"/>
              </a:solidFill>
            </a:endParaRPr>
          </a:p>
          <a:p>
            <a:pPr algn="l">
              <a:spcBef>
                <a:spcPts val="600"/>
              </a:spcBef>
            </a:pPr>
            <a:r>
              <a:rPr sz="1500" dirty="0">
                <a:solidFill>
                  <a:srgbClr val="FFFFFF"/>
                </a:solidFill>
              </a:rPr>
              <a:t>• ECS scaled out:</a:t>
            </a:r>
          </a:p>
          <a:p>
            <a:pPr algn="l">
              <a:spcBef>
                <a:spcPts val="600"/>
              </a:spcBef>
            </a:pPr>
            <a:r>
              <a:rPr sz="1500" dirty="0">
                <a:solidFill>
                  <a:srgbClr val="FFFFFF"/>
                </a:solidFill>
              </a:rPr>
              <a:t>  Desired count  2 → 3</a:t>
            </a:r>
          </a:p>
          <a:p>
            <a:pPr algn="l">
              <a:spcBef>
                <a:spcPts val="600"/>
              </a:spcBef>
            </a:pPr>
            <a:r>
              <a:rPr sz="1500" dirty="0">
                <a:solidFill>
                  <a:srgbClr val="FFFFFF"/>
                </a:solidFill>
              </a:rPr>
              <a:t>  Running tasks  2 → 3</a:t>
            </a:r>
          </a:p>
          <a:p>
            <a:pPr algn="l">
              <a:spcBef>
                <a:spcPts val="600"/>
              </a:spcBef>
            </a:pPr>
            <a:endParaRPr sz="1500" dirty="0">
              <a:solidFill>
                <a:srgbClr val="FFFFFF"/>
              </a:solidFill>
            </a:endParaRPr>
          </a:p>
          <a:p>
            <a:pPr algn="l">
              <a:spcBef>
                <a:spcPts val="600"/>
              </a:spcBef>
            </a:pPr>
            <a:r>
              <a:rPr sz="1500" dirty="0">
                <a:solidFill>
                  <a:srgbClr val="FFFFFF"/>
                </a:solidFill>
              </a:rPr>
              <a:t>• Load distributed across</a:t>
            </a:r>
          </a:p>
          <a:p>
            <a:pPr algn="l">
              <a:spcBef>
                <a:spcPts val="600"/>
              </a:spcBef>
            </a:pPr>
            <a:r>
              <a:rPr sz="1500" dirty="0">
                <a:solidFill>
                  <a:srgbClr val="FFFFFF"/>
                </a:solidFill>
              </a:rPr>
              <a:t>  3 containers</a:t>
            </a:r>
          </a:p>
          <a:p>
            <a:pPr algn="l">
              <a:spcBef>
                <a:spcPts val="600"/>
              </a:spcBef>
            </a:pPr>
            <a:endParaRPr sz="1500" dirty="0">
              <a:solidFill>
                <a:srgbClr val="FFFFFF"/>
              </a:solidFill>
            </a:endParaRPr>
          </a:p>
          <a:p>
            <a:pPr algn="l">
              <a:spcBef>
                <a:spcPts val="600"/>
              </a:spcBef>
            </a:pPr>
            <a:r>
              <a:rPr sz="1500" dirty="0">
                <a:solidFill>
                  <a:srgbClr val="FFFFFF"/>
                </a:solidFill>
              </a:rPr>
              <a:t>• CPU per task decreased</a:t>
            </a:r>
          </a:p>
          <a:p>
            <a:pPr algn="l">
              <a:spcBef>
                <a:spcPts val="600"/>
              </a:spcBef>
            </a:pPr>
            <a:r>
              <a:rPr sz="1500" dirty="0">
                <a:solidFill>
                  <a:srgbClr val="FFFFFF"/>
                </a:solidFill>
              </a:rPr>
              <a:t>  after new task launched</a:t>
            </a:r>
          </a:p>
          <a:p>
            <a:pPr algn="l">
              <a:spcBef>
                <a:spcPts val="600"/>
              </a:spcBef>
            </a:pPr>
            <a:endParaRPr sz="1500" dirty="0">
              <a:solidFill>
                <a:srgbClr val="FFFFFF"/>
              </a:solidFill>
            </a:endParaRPr>
          </a:p>
          <a:p>
            <a:pPr algn="l">
              <a:spcBef>
                <a:spcPts val="600"/>
              </a:spcBef>
            </a:pPr>
            <a:r>
              <a:rPr sz="1500" dirty="0">
                <a:solidFill>
                  <a:srgbClr val="FFFFFF"/>
                </a:solidFill>
              </a:rPr>
              <a:t>• Elasticity proven:</a:t>
            </a:r>
          </a:p>
          <a:p>
            <a:pPr algn="l">
              <a:spcBef>
                <a:spcPts val="600"/>
              </a:spcBef>
            </a:pPr>
            <a:r>
              <a:rPr sz="1500" dirty="0">
                <a:solidFill>
                  <a:srgbClr val="FFFFFF"/>
                </a:solidFill>
              </a:rPr>
              <a:t>  System adapts automatically</a:t>
            </a:r>
          </a:p>
          <a:p>
            <a:pPr algn="l">
              <a:spcBef>
                <a:spcPts val="600"/>
              </a:spcBef>
            </a:pPr>
            <a:r>
              <a:rPr sz="1500" dirty="0">
                <a:solidFill>
                  <a:srgbClr val="FFFFFF"/>
                </a:solidFill>
              </a:rPr>
              <a:t>  without manual intervention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80" y="5549295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39C12"/>
                </a:solidFill>
              </a:rPr>
              <a:t>2 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9660" y="5549295"/>
            <a:ext cx="548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1100" y="5549295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2ECC71"/>
                </a:solidFill>
              </a:rPr>
              <a:t>3 Tasks</a:t>
            </a:r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EBDC36-3843-17F9-BD3A-0D4091B5A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17" y="2034649"/>
            <a:ext cx="5918862" cy="35146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FFFFFF"/>
                </a:solidFill>
              </a:rPr>
              <a:t>Resilience Test: Self-healing Under Task Failure</a:t>
            </a:r>
            <a:endParaRPr sz="3000" b="1" i="0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18288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2430DF-7C1B-373B-62D8-F688D96BA713}"/>
              </a:ext>
            </a:extLst>
          </p:cNvPr>
          <p:cNvSpPr txBox="1"/>
          <p:nvPr/>
        </p:nvSpPr>
        <p:spPr>
          <a:xfrm>
            <a:off x="593801" y="1137404"/>
            <a:ext cx="7702705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Scenario</a:t>
            </a: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Service running under sustained 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Multiple ECS tasks active behind ALB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Failure Injection</a:t>
            </a: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Manually terminated one running ECS task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Simulated unexpected container crash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System Behavior</a:t>
            </a: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ECS detected stopped task automatically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Replacement task launched to maintain desired 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ALB redistributed traffic to healthy targets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No service outage observed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Key Insight</a:t>
            </a: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Container orchestration enables automatic recovery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System remains available despite instance-level failure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Downstream Dependency Failure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1828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fakeExternalService (Broken Mode)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4269802" cy="2926080"/>
          </a:xfrm>
          <a:prstGeom prst="rect">
            <a:avLst/>
          </a:prstGeom>
          <a:solidFill>
            <a:srgbClr val="1E1E2E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426980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2ECC71"/>
                </a:solidFill>
                <a:latin typeface="Courier New"/>
              </a:rPr>
              <a:t>func</a:t>
            </a:r>
            <a:r>
              <a:rPr sz="1200" b="0" dirty="0">
                <a:solidFill>
                  <a:srgbClr val="2ECC71"/>
                </a:solidFill>
                <a:latin typeface="Courier New"/>
              </a:rPr>
              <a:t> </a:t>
            </a:r>
            <a:r>
              <a:rPr sz="1200" b="0" dirty="0" err="1">
                <a:solidFill>
                  <a:srgbClr val="2ECC71"/>
                </a:solidFill>
                <a:latin typeface="Courier New"/>
              </a:rPr>
              <a:t>fakeExternalService</a:t>
            </a:r>
            <a:r>
              <a:rPr sz="1200" b="0" dirty="0">
                <a:solidFill>
                  <a:srgbClr val="2ECC71"/>
                </a:solidFill>
                <a:latin typeface="Courier New"/>
              </a:rPr>
              <a:t>() error {</a:t>
            </a:r>
          </a:p>
          <a:p>
            <a:r>
              <a:rPr sz="1200" b="0" dirty="0">
                <a:solidFill>
                  <a:srgbClr val="2ECC71"/>
                </a:solidFill>
                <a:latin typeface="Courier New"/>
              </a:rPr>
              <a:t>    // 30% chance of slow response</a:t>
            </a:r>
          </a:p>
          <a:p>
            <a:r>
              <a:rPr sz="1200" b="0" dirty="0">
                <a:solidFill>
                  <a:srgbClr val="2ECC71"/>
                </a:solidFill>
                <a:latin typeface="Courier New"/>
              </a:rPr>
              <a:t>    if rand.Float64() &lt; 0.30 {</a:t>
            </a:r>
          </a:p>
          <a:p>
            <a:r>
              <a:rPr sz="1200" b="0" dirty="0">
                <a:solidFill>
                  <a:srgbClr val="2ECC71"/>
                </a:solidFill>
                <a:latin typeface="Courier New"/>
              </a:rPr>
              <a:t>        // Simulate downstream delay</a:t>
            </a:r>
          </a:p>
          <a:p>
            <a:r>
              <a:rPr sz="1200" b="0" dirty="0">
                <a:solidFill>
                  <a:srgbClr val="2ECC71"/>
                </a:solidFill>
                <a:latin typeface="Courier New"/>
              </a:rPr>
              <a:t>        </a:t>
            </a:r>
            <a:r>
              <a:rPr sz="1200" b="0" dirty="0" err="1">
                <a:solidFill>
                  <a:srgbClr val="2ECC71"/>
                </a:solidFill>
                <a:latin typeface="Courier New"/>
              </a:rPr>
              <a:t>time.Sleep</a:t>
            </a:r>
            <a:r>
              <a:rPr sz="1200" b="0" dirty="0">
                <a:solidFill>
                  <a:srgbClr val="2ECC71"/>
                </a:solidFill>
                <a:latin typeface="Courier New"/>
              </a:rPr>
              <a:t>(2 * </a:t>
            </a:r>
            <a:r>
              <a:rPr sz="1200" b="0" dirty="0" err="1">
                <a:solidFill>
                  <a:srgbClr val="2ECC71"/>
                </a:solidFill>
                <a:latin typeface="Courier New"/>
              </a:rPr>
              <a:t>time.Second</a:t>
            </a:r>
            <a:r>
              <a:rPr sz="1200" b="0" dirty="0">
                <a:solidFill>
                  <a:srgbClr val="2ECC71"/>
                </a:solidFill>
                <a:latin typeface="Courier New"/>
              </a:rPr>
              <a:t>)</a:t>
            </a:r>
          </a:p>
          <a:p>
            <a:r>
              <a:rPr sz="1200" b="0" dirty="0">
                <a:solidFill>
                  <a:srgbClr val="2ECC71"/>
                </a:solidFill>
                <a:latin typeface="Courier New"/>
              </a:rPr>
              <a:t>        return nil</a:t>
            </a:r>
          </a:p>
          <a:p>
            <a:r>
              <a:rPr sz="1200" b="0" dirty="0">
                <a:solidFill>
                  <a:srgbClr val="2ECC71"/>
                </a:solidFill>
                <a:latin typeface="Courier New"/>
              </a:rPr>
              <a:t>    }</a:t>
            </a:r>
          </a:p>
          <a:p>
            <a:r>
              <a:rPr sz="1200" b="0" dirty="0">
                <a:solidFill>
                  <a:srgbClr val="2ECC71"/>
                </a:solidFill>
                <a:latin typeface="Courier New"/>
              </a:rPr>
              <a:t>    return nil</a:t>
            </a:r>
          </a:p>
          <a:p>
            <a:r>
              <a:rPr sz="1200" b="0" dirty="0">
                <a:solidFill>
                  <a:srgbClr val="2ECC71"/>
                </a:solidFill>
                <a:latin typeface="Courier New"/>
              </a:rPr>
              <a:t>}</a:t>
            </a:r>
          </a:p>
          <a:p>
            <a:endParaRPr sz="1200" b="0" dirty="0">
              <a:solidFill>
                <a:srgbClr val="2ECC71"/>
              </a:solidFill>
              <a:latin typeface="Courier New"/>
            </a:endParaRPr>
          </a:p>
          <a:p>
            <a:r>
              <a:rPr sz="1200" b="0" dirty="0">
                <a:solidFill>
                  <a:srgbClr val="2ECC71"/>
                </a:solidFill>
                <a:latin typeface="Courier New"/>
              </a:rPr>
              <a:t>// Called in every request handler:</a:t>
            </a:r>
          </a:p>
          <a:p>
            <a:r>
              <a:rPr sz="1200" b="0" dirty="0">
                <a:solidFill>
                  <a:srgbClr val="2ECC71"/>
                </a:solidFill>
                <a:latin typeface="Courier New"/>
              </a:rPr>
              <a:t>if err := </a:t>
            </a:r>
            <a:r>
              <a:rPr sz="1200" b="0" dirty="0" err="1">
                <a:solidFill>
                  <a:srgbClr val="2ECC71"/>
                </a:solidFill>
                <a:latin typeface="Courier New"/>
              </a:rPr>
              <a:t>fakeExternalService</a:t>
            </a:r>
            <a:r>
              <a:rPr sz="1200" b="0" dirty="0">
                <a:solidFill>
                  <a:srgbClr val="2ECC71"/>
                </a:solidFill>
                <a:latin typeface="Courier New"/>
              </a:rPr>
              <a:t>(); err != nil {</a:t>
            </a:r>
          </a:p>
          <a:p>
            <a:r>
              <a:rPr sz="1200" b="0" dirty="0">
                <a:solidFill>
                  <a:srgbClr val="2ECC71"/>
                </a:solidFill>
                <a:latin typeface="Courier New"/>
              </a:rPr>
              <a:t>    </a:t>
            </a:r>
            <a:r>
              <a:rPr sz="1200" b="0" dirty="0" err="1">
                <a:solidFill>
                  <a:srgbClr val="2ECC71"/>
                </a:solidFill>
                <a:latin typeface="Courier New"/>
              </a:rPr>
              <a:t>http.Error</a:t>
            </a:r>
            <a:r>
              <a:rPr sz="1200" b="0" dirty="0">
                <a:solidFill>
                  <a:srgbClr val="2ECC71"/>
                </a:solidFill>
                <a:latin typeface="Courier New"/>
              </a:rPr>
              <a:t>(w, </a:t>
            </a:r>
            <a:r>
              <a:rPr sz="1200" b="0" dirty="0" err="1">
                <a:solidFill>
                  <a:srgbClr val="2ECC71"/>
                </a:solidFill>
                <a:latin typeface="Courier New"/>
              </a:rPr>
              <a:t>err.Error</a:t>
            </a:r>
            <a:r>
              <a:rPr sz="1200" b="0" dirty="0">
                <a:solidFill>
                  <a:srgbClr val="2ECC71"/>
                </a:solidFill>
                <a:latin typeface="Courier New"/>
              </a:rPr>
              <a:t>(), 500)</a:t>
            </a:r>
          </a:p>
          <a:p>
            <a:r>
              <a:rPr sz="1200" b="0" dirty="0">
                <a:solidFill>
                  <a:srgbClr val="2ECC71"/>
                </a:solidFill>
                <a:latin typeface="Courier New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526280"/>
            <a:ext cx="4269802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400">
                <a:solidFill>
                  <a:srgbClr val="CCD6E0"/>
                </a:solidFill>
              </a:rPr>
              <a:t>• 30% of requests hit a 2-second sleep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CCD6E0"/>
                </a:solidFill>
              </a:rPr>
              <a:t>• No timeout cap → goroutines pile up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CCD6E0"/>
                </a:solidFill>
              </a:rPr>
              <a:t>• Resources exhausted under 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4383" y="1005840"/>
            <a:ext cx="5760720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400" dirty="0">
                <a:solidFill>
                  <a:srgbClr val="FFFFFF"/>
                </a:solidFill>
              </a:rPr>
              <a:t>Effect:</a:t>
            </a:r>
          </a:p>
          <a:p>
            <a:pPr algn="l">
              <a:spcBef>
                <a:spcPts val="600"/>
              </a:spcBef>
            </a:pPr>
            <a:r>
              <a:rPr sz="1400" dirty="0">
                <a:solidFill>
                  <a:srgbClr val="FFFFFF"/>
                </a:solidFill>
              </a:rPr>
              <a:t>• 30% of requests delayed by 2s</a:t>
            </a:r>
          </a:p>
          <a:p>
            <a:pPr algn="l">
              <a:spcBef>
                <a:spcPts val="600"/>
              </a:spcBef>
            </a:pPr>
            <a:r>
              <a:rPr sz="1400" dirty="0">
                <a:solidFill>
                  <a:srgbClr val="FFFFFF"/>
                </a:solidFill>
              </a:rPr>
              <a:t>• Cascading latency spike</a:t>
            </a:r>
          </a:p>
          <a:p>
            <a:pPr algn="l">
              <a:spcBef>
                <a:spcPts val="600"/>
              </a:spcBef>
            </a:pPr>
            <a:r>
              <a:rPr sz="1400" dirty="0">
                <a:solidFill>
                  <a:srgbClr val="FFFFFF"/>
                </a:solidFill>
              </a:rPr>
              <a:t>• p95 latency becomes unpredictable</a:t>
            </a:r>
          </a:p>
          <a:p>
            <a:pPr algn="l">
              <a:spcBef>
                <a:spcPts val="600"/>
              </a:spcBef>
            </a:pPr>
            <a:r>
              <a:rPr sz="1400" dirty="0">
                <a:solidFill>
                  <a:srgbClr val="FFFFFF"/>
                </a:solidFill>
              </a:rPr>
              <a:t>• System appears slow even when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  <a:r>
              <a:rPr sz="1400" dirty="0">
                <a:solidFill>
                  <a:srgbClr val="FFFFFF"/>
                </a:solidFill>
              </a:rPr>
              <a:t>CPU load is moderate</a:t>
            </a:r>
          </a:p>
          <a:p>
            <a:pPr algn="l">
              <a:spcBef>
                <a:spcPts val="600"/>
              </a:spcBef>
            </a:pPr>
            <a:r>
              <a:rPr sz="1400" dirty="0">
                <a:solidFill>
                  <a:srgbClr val="FFFFFF"/>
                </a:solidFill>
              </a:rPr>
              <a:t>Root cause: unbounded wait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  <a:r>
              <a:rPr sz="1400" dirty="0">
                <a:solidFill>
                  <a:srgbClr val="FFFFFF"/>
                </a:solidFill>
              </a:rPr>
              <a:t>on a slow downstream service</a:t>
            </a:r>
          </a:p>
        </p:txBody>
      </p:sp>
      <p:pic>
        <p:nvPicPr>
          <p:cNvPr id="15" name="Picture 14" descr="A screenshot of a statistics report&#10;&#10;AI-generated content may be incorrect.">
            <a:extLst>
              <a:ext uri="{FF2B5EF4-FFF2-40B4-BE49-F238E27FC236}">
                <a16:creationId xmlns:a16="http://schemas.microsoft.com/office/drawing/2014/main" id="{557F0AD4-E5B5-5548-0D24-30C99DDF8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1543" y="2775555"/>
            <a:ext cx="5760720" cy="38083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Applying Fail-Fast Resilience Pattern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182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 err="1">
                <a:solidFill>
                  <a:srgbClr val="2ECC71"/>
                </a:solidFill>
              </a:rPr>
              <a:t>fakeExternalService</a:t>
            </a:r>
            <a:r>
              <a:rPr sz="1500" b="1" i="0" dirty="0">
                <a:solidFill>
                  <a:srgbClr val="2ECC71"/>
                </a:solidFill>
              </a:rPr>
              <a:t>  →  With Timeout (Fixed)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4797255" cy="3566160"/>
          </a:xfrm>
          <a:prstGeom prst="rect">
            <a:avLst/>
          </a:prstGeom>
          <a:solidFill>
            <a:srgbClr val="1E1E2E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458203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dirty="0" err="1">
                <a:solidFill>
                  <a:srgbClr val="2ECC71"/>
                </a:solidFill>
                <a:latin typeface="Courier New"/>
              </a:rPr>
              <a:t>func</a:t>
            </a:r>
            <a:r>
              <a:rPr sz="1100" b="0" dirty="0">
                <a:solidFill>
                  <a:srgbClr val="2ECC71"/>
                </a:solidFill>
                <a:latin typeface="Courier New"/>
              </a:rPr>
              <a:t> </a:t>
            </a:r>
            <a:r>
              <a:rPr sz="1100" b="0" dirty="0" err="1">
                <a:solidFill>
                  <a:srgbClr val="2ECC71"/>
                </a:solidFill>
                <a:latin typeface="Courier New"/>
              </a:rPr>
              <a:t>fakeExternalServiceWithTimeout</a:t>
            </a:r>
            <a:r>
              <a:rPr sz="1100" b="0" dirty="0">
                <a:solidFill>
                  <a:srgbClr val="2ECC71"/>
                </a:solidFill>
                <a:latin typeface="Courier New"/>
              </a:rPr>
              <a:t>(</a:t>
            </a:r>
          </a:p>
          <a:p>
            <a:r>
              <a:rPr sz="1100" b="0" dirty="0">
                <a:solidFill>
                  <a:srgbClr val="2ECC71"/>
                </a:solidFill>
                <a:latin typeface="Courier New"/>
              </a:rPr>
              <a:t>    timeout </a:t>
            </a:r>
            <a:r>
              <a:rPr sz="1100" b="0" dirty="0" err="1">
                <a:solidFill>
                  <a:srgbClr val="2ECC71"/>
                </a:solidFill>
                <a:latin typeface="Courier New"/>
              </a:rPr>
              <a:t>time.Duration</a:t>
            </a:r>
            <a:r>
              <a:rPr sz="1100" b="0" dirty="0">
                <a:solidFill>
                  <a:srgbClr val="2ECC71"/>
                </a:solidFill>
                <a:latin typeface="Courier New"/>
              </a:rPr>
              <a:t>) error {</a:t>
            </a:r>
          </a:p>
          <a:p>
            <a:endParaRPr sz="1100" b="0" dirty="0">
              <a:solidFill>
                <a:srgbClr val="2ECC71"/>
              </a:solidFill>
              <a:latin typeface="Courier New"/>
            </a:endParaRPr>
          </a:p>
          <a:p>
            <a:r>
              <a:rPr sz="1100" b="0" dirty="0">
                <a:solidFill>
                  <a:srgbClr val="2ECC71"/>
                </a:solidFill>
                <a:latin typeface="Courier New"/>
              </a:rPr>
              <a:t>    done := make(</a:t>
            </a:r>
            <a:r>
              <a:rPr sz="1100" b="0" dirty="0" err="1">
                <a:solidFill>
                  <a:srgbClr val="2ECC71"/>
                </a:solidFill>
                <a:latin typeface="Courier New"/>
              </a:rPr>
              <a:t>chan</a:t>
            </a:r>
            <a:r>
              <a:rPr sz="1100" b="0" dirty="0">
                <a:solidFill>
                  <a:srgbClr val="2ECC71"/>
                </a:solidFill>
                <a:latin typeface="Courier New"/>
              </a:rPr>
              <a:t> error, 1)</a:t>
            </a:r>
          </a:p>
          <a:p>
            <a:r>
              <a:rPr sz="1100" b="0" dirty="0">
                <a:solidFill>
                  <a:srgbClr val="2ECC71"/>
                </a:solidFill>
                <a:latin typeface="Courier New"/>
              </a:rPr>
              <a:t>    go </a:t>
            </a:r>
            <a:r>
              <a:rPr sz="1100" b="0" dirty="0" err="1">
                <a:solidFill>
                  <a:srgbClr val="2ECC71"/>
                </a:solidFill>
                <a:latin typeface="Courier New"/>
              </a:rPr>
              <a:t>func</a:t>
            </a:r>
            <a:r>
              <a:rPr sz="1100" b="0" dirty="0">
                <a:solidFill>
                  <a:srgbClr val="2ECC71"/>
                </a:solidFill>
                <a:latin typeface="Courier New"/>
              </a:rPr>
              <a:t>() {</a:t>
            </a:r>
          </a:p>
          <a:p>
            <a:r>
              <a:rPr sz="1100" b="0" dirty="0">
                <a:solidFill>
                  <a:srgbClr val="2ECC71"/>
                </a:solidFill>
                <a:latin typeface="Courier New"/>
              </a:rPr>
              <a:t>        </a:t>
            </a:r>
            <a:r>
              <a:rPr sz="1100" b="0" dirty="0" err="1">
                <a:solidFill>
                  <a:srgbClr val="2ECC71"/>
                </a:solidFill>
                <a:latin typeface="Courier New"/>
              </a:rPr>
              <a:t>time.Sleep</a:t>
            </a:r>
            <a:r>
              <a:rPr sz="1100" b="0" dirty="0">
                <a:solidFill>
                  <a:srgbClr val="2ECC71"/>
                </a:solidFill>
                <a:latin typeface="Courier New"/>
              </a:rPr>
              <a:t>(2 * </a:t>
            </a:r>
            <a:r>
              <a:rPr sz="1100" b="0" dirty="0" err="1">
                <a:solidFill>
                  <a:srgbClr val="2ECC71"/>
                </a:solidFill>
                <a:latin typeface="Courier New"/>
              </a:rPr>
              <a:t>time.Second</a:t>
            </a:r>
            <a:r>
              <a:rPr sz="1100" b="0" dirty="0">
                <a:solidFill>
                  <a:srgbClr val="2ECC71"/>
                </a:solidFill>
                <a:latin typeface="Courier New"/>
              </a:rPr>
              <a:t>)</a:t>
            </a:r>
          </a:p>
          <a:p>
            <a:r>
              <a:rPr sz="1100" b="0" dirty="0">
                <a:solidFill>
                  <a:srgbClr val="2ECC71"/>
                </a:solidFill>
                <a:latin typeface="Courier New"/>
              </a:rPr>
              <a:t>        done &lt;- nil</a:t>
            </a:r>
          </a:p>
          <a:p>
            <a:r>
              <a:rPr sz="1100" b="0" dirty="0">
                <a:solidFill>
                  <a:srgbClr val="2ECC71"/>
                </a:solidFill>
                <a:latin typeface="Courier New"/>
              </a:rPr>
              <a:t>    }()</a:t>
            </a:r>
          </a:p>
          <a:p>
            <a:endParaRPr sz="1100" b="0" dirty="0">
              <a:solidFill>
                <a:srgbClr val="2ECC71"/>
              </a:solidFill>
              <a:latin typeface="Courier New"/>
            </a:endParaRPr>
          </a:p>
          <a:p>
            <a:r>
              <a:rPr sz="1100" b="0" dirty="0">
                <a:solidFill>
                  <a:srgbClr val="2ECC71"/>
                </a:solidFill>
                <a:latin typeface="Courier New"/>
              </a:rPr>
              <a:t>    select {</a:t>
            </a:r>
          </a:p>
          <a:p>
            <a:r>
              <a:rPr sz="1100" b="0" dirty="0">
                <a:solidFill>
                  <a:srgbClr val="2ECC71"/>
                </a:solidFill>
                <a:latin typeface="Courier New"/>
              </a:rPr>
              <a:t>    case err := &lt;-done:</a:t>
            </a:r>
          </a:p>
          <a:p>
            <a:r>
              <a:rPr sz="1100" b="0" dirty="0">
                <a:solidFill>
                  <a:srgbClr val="2ECC71"/>
                </a:solidFill>
                <a:latin typeface="Courier New"/>
              </a:rPr>
              <a:t>        return err</a:t>
            </a:r>
          </a:p>
          <a:p>
            <a:r>
              <a:rPr sz="1100" b="0" dirty="0">
                <a:solidFill>
                  <a:srgbClr val="2ECC71"/>
                </a:solidFill>
                <a:latin typeface="Courier New"/>
              </a:rPr>
              <a:t>    case &lt;-</a:t>
            </a:r>
            <a:r>
              <a:rPr sz="1100" b="0" dirty="0" err="1">
                <a:solidFill>
                  <a:srgbClr val="2ECC71"/>
                </a:solidFill>
                <a:latin typeface="Courier New"/>
              </a:rPr>
              <a:t>time.After</a:t>
            </a:r>
            <a:r>
              <a:rPr sz="1100" b="0" dirty="0">
                <a:solidFill>
                  <a:srgbClr val="2ECC71"/>
                </a:solidFill>
                <a:latin typeface="Courier New"/>
              </a:rPr>
              <a:t>(timeout):</a:t>
            </a:r>
          </a:p>
          <a:p>
            <a:r>
              <a:rPr sz="1100" b="0" dirty="0">
                <a:solidFill>
                  <a:srgbClr val="2ECC71"/>
                </a:solidFill>
                <a:latin typeface="Courier New"/>
              </a:rPr>
              <a:t>        return </a:t>
            </a:r>
            <a:r>
              <a:rPr sz="1100" b="0" dirty="0" err="1">
                <a:solidFill>
                  <a:srgbClr val="2ECC71"/>
                </a:solidFill>
                <a:latin typeface="Courier New"/>
              </a:rPr>
              <a:t>errors.New</a:t>
            </a:r>
            <a:r>
              <a:rPr sz="1100" b="0" dirty="0">
                <a:solidFill>
                  <a:srgbClr val="2ECC71"/>
                </a:solidFill>
                <a:latin typeface="Courier New"/>
              </a:rPr>
              <a:t>("timeout")</a:t>
            </a:r>
          </a:p>
          <a:p>
            <a:r>
              <a:rPr sz="1100" b="0" dirty="0">
                <a:solidFill>
                  <a:srgbClr val="2ECC71"/>
                </a:solidFill>
                <a:latin typeface="Courier New"/>
              </a:rPr>
              <a:t>    }</a:t>
            </a:r>
          </a:p>
          <a:p>
            <a:r>
              <a:rPr sz="1100" b="0" dirty="0">
                <a:solidFill>
                  <a:srgbClr val="2ECC71"/>
                </a:solidFill>
                <a:latin typeface="Courier New"/>
              </a:rPr>
              <a:t>}</a:t>
            </a:r>
          </a:p>
          <a:p>
            <a:endParaRPr sz="1100" b="0" dirty="0">
              <a:solidFill>
                <a:srgbClr val="2ECC71"/>
              </a:solidFill>
              <a:latin typeface="Courier New"/>
            </a:endParaRPr>
          </a:p>
          <a:p>
            <a:r>
              <a:rPr sz="1100" b="0" dirty="0">
                <a:solidFill>
                  <a:srgbClr val="2ECC71"/>
                </a:solidFill>
                <a:latin typeface="Courier New"/>
              </a:rPr>
              <a:t>// Called with 200ms cap:</a:t>
            </a:r>
          </a:p>
          <a:p>
            <a:r>
              <a:rPr sz="1100" b="0" dirty="0" err="1">
                <a:solidFill>
                  <a:srgbClr val="2ECC71"/>
                </a:solidFill>
                <a:latin typeface="Courier New"/>
              </a:rPr>
              <a:t>fakeExternalServiceWithTimeout</a:t>
            </a:r>
            <a:r>
              <a:rPr sz="1100" b="0" dirty="0">
                <a:solidFill>
                  <a:srgbClr val="2ECC71"/>
                </a:solidFill>
                <a:latin typeface="Courier New"/>
              </a:rPr>
              <a:t>(200 * </a:t>
            </a:r>
            <a:r>
              <a:rPr sz="1100" b="0" dirty="0" err="1">
                <a:solidFill>
                  <a:srgbClr val="2ECC71"/>
                </a:solidFill>
                <a:latin typeface="Courier New"/>
              </a:rPr>
              <a:t>time.Millisecond</a:t>
            </a:r>
            <a:r>
              <a:rPr sz="1100" b="0" dirty="0">
                <a:solidFill>
                  <a:srgbClr val="2ECC71"/>
                </a:solidFill>
                <a:latin typeface="Courier New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05840"/>
            <a:ext cx="5760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400" dirty="0">
                <a:solidFill>
                  <a:srgbClr val="FFFFFF"/>
                </a:solidFill>
              </a:rPr>
              <a:t>Why Fail-Fast Works:</a:t>
            </a:r>
          </a:p>
          <a:p>
            <a:pPr algn="l">
              <a:spcBef>
                <a:spcPts val="600"/>
              </a:spcBef>
            </a:pPr>
            <a:endParaRPr sz="1400" dirty="0">
              <a:solidFill>
                <a:srgbClr val="FFFFFF"/>
              </a:solidFill>
            </a:endParaRPr>
          </a:p>
          <a:p>
            <a:pPr algn="l">
              <a:spcBef>
                <a:spcPts val="600"/>
              </a:spcBef>
            </a:pPr>
            <a:r>
              <a:rPr sz="1400" dirty="0">
                <a:solidFill>
                  <a:srgbClr val="FFFFFF"/>
                </a:solidFill>
              </a:rPr>
              <a:t>• Caps waiting time at 200 </a:t>
            </a:r>
            <a:r>
              <a:rPr sz="1400" dirty="0" err="1">
                <a:solidFill>
                  <a:srgbClr val="FFFFFF"/>
                </a:solidFill>
              </a:rPr>
              <a:t>ms</a:t>
            </a:r>
            <a:endParaRPr sz="1400" dirty="0">
              <a:solidFill>
                <a:srgbClr val="FFFFFF"/>
              </a:solidFill>
            </a:endParaRPr>
          </a:p>
          <a:p>
            <a:pPr algn="l">
              <a:spcBef>
                <a:spcPts val="600"/>
              </a:spcBef>
            </a:pPr>
            <a:r>
              <a:rPr sz="1400" dirty="0">
                <a:solidFill>
                  <a:srgbClr val="FFFFFF"/>
                </a:solidFill>
              </a:rPr>
              <a:t>• Prevents goroutine pile-up</a:t>
            </a:r>
          </a:p>
          <a:p>
            <a:pPr algn="l">
              <a:spcBef>
                <a:spcPts val="600"/>
              </a:spcBef>
            </a:pPr>
            <a:r>
              <a:rPr sz="1400" dirty="0">
                <a:solidFill>
                  <a:srgbClr val="FFFFFF"/>
                </a:solidFill>
              </a:rPr>
              <a:t>• Returns HTTP 503 immediately</a:t>
            </a:r>
          </a:p>
          <a:p>
            <a:pPr algn="l">
              <a:spcBef>
                <a:spcPts val="600"/>
              </a:spcBef>
            </a:pPr>
            <a:r>
              <a:rPr sz="1400" dirty="0">
                <a:solidFill>
                  <a:srgbClr val="FFFFFF"/>
                </a:solidFill>
              </a:rPr>
              <a:t>  instead of timing out the client</a:t>
            </a:r>
          </a:p>
          <a:p>
            <a:pPr algn="l">
              <a:spcBef>
                <a:spcPts val="600"/>
              </a:spcBef>
            </a:pPr>
            <a:r>
              <a:rPr sz="1400" dirty="0">
                <a:solidFill>
                  <a:srgbClr val="FFFFFF"/>
                </a:solidFill>
              </a:rPr>
              <a:t>• Frees CPU/memory for healthy </a:t>
            </a:r>
            <a:r>
              <a:rPr sz="1400" dirty="0" err="1">
                <a:solidFill>
                  <a:srgbClr val="FFFFFF"/>
                </a:solidFill>
              </a:rPr>
              <a:t>reqs</a:t>
            </a:r>
            <a:endParaRPr sz="1400" dirty="0">
              <a:solidFill>
                <a:srgbClr val="FFFFFF"/>
              </a:solidFill>
            </a:endParaRPr>
          </a:p>
          <a:p>
            <a:pPr algn="l">
              <a:spcBef>
                <a:spcPts val="600"/>
              </a:spcBef>
            </a:pPr>
            <a:r>
              <a:rPr sz="1400" dirty="0">
                <a:solidFill>
                  <a:srgbClr val="FFFFFF"/>
                </a:solidFill>
              </a:rPr>
              <a:t>• Latency becomes predictable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3B3B"/>
                </a:solidFill>
              </a:rPr>
              <a:t>Broken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71"/>
                </a:solidFill>
              </a:rPr>
              <a:t>Fixed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4663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→</a:t>
            </a:r>
          </a:p>
        </p:txBody>
      </p:sp>
      <p:pic>
        <p:nvPicPr>
          <p:cNvPr id="17" name="Picture 16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63F8D270-AD60-AA08-67C4-66C3BB173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9810" y="3703320"/>
            <a:ext cx="1028700" cy="2298700"/>
          </a:xfrm>
          <a:prstGeom prst="rect">
            <a:avLst/>
          </a:prstGeom>
        </p:spPr>
      </p:pic>
      <p:pic>
        <p:nvPicPr>
          <p:cNvPr id="19" name="Picture 18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EDE83111-0204-A8D2-3F22-C3462D7BC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333" y="3709670"/>
            <a:ext cx="1054100" cy="2273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</a:rPr>
              <a:t>Before vs After </a:t>
            </a:r>
            <a:r>
              <a:rPr lang="en-US" sz="3000" b="1" i="0" dirty="0">
                <a:solidFill>
                  <a:srgbClr val="FFFFFF"/>
                </a:solidFill>
              </a:rPr>
              <a:t>- </a:t>
            </a:r>
            <a:r>
              <a:rPr sz="3000" b="1" i="0" dirty="0">
                <a:solidFill>
                  <a:srgbClr val="FFFFFF"/>
                </a:solidFill>
              </a:rPr>
              <a:t>Quantitative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18288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560320" cy="621792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237743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143000"/>
            <a:ext cx="4023360" cy="621792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91840" y="1280160"/>
            <a:ext cx="38404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Broken Mode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143000"/>
            <a:ext cx="4023360" cy="6217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79" y="1280160"/>
            <a:ext cx="38404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Fixed Mode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01368"/>
            <a:ext cx="2560320" cy="621792"/>
          </a:xfrm>
          <a:prstGeom prst="rect">
            <a:avLst/>
          </a:prstGeom>
          <a:solidFill>
            <a:srgbClr val="112238"/>
          </a:solidFill>
          <a:ln w="635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938528"/>
            <a:ext cx="2377439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Avg Latency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801368"/>
            <a:ext cx="4023360" cy="621792"/>
          </a:xfrm>
          <a:prstGeom prst="rect">
            <a:avLst/>
          </a:prstGeom>
          <a:solidFill>
            <a:srgbClr val="112238"/>
          </a:solidFill>
          <a:ln w="635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1938528"/>
            <a:ext cx="384048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3B3B"/>
                </a:solidFill>
              </a:rPr>
              <a:t>High (2+ seconds)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1801368"/>
            <a:ext cx="4023360" cy="621792"/>
          </a:xfrm>
          <a:prstGeom prst="rect">
            <a:avLst/>
          </a:prstGeom>
          <a:solidFill>
            <a:srgbClr val="112238"/>
          </a:solidFill>
          <a:ln w="635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79" y="1938528"/>
            <a:ext cx="384048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CC71"/>
                </a:solidFill>
              </a:rPr>
              <a:t>Low (&lt;300 ms)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59736"/>
            <a:ext cx="2560320" cy="621792"/>
          </a:xfrm>
          <a:prstGeom prst="rect">
            <a:avLst/>
          </a:prstGeom>
          <a:solidFill>
            <a:srgbClr val="0D1B2E"/>
          </a:solidFill>
          <a:ln w="635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2596896"/>
            <a:ext cx="2377439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p95 Latency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2459736"/>
            <a:ext cx="4023360" cy="621792"/>
          </a:xfrm>
          <a:prstGeom prst="rect">
            <a:avLst/>
          </a:prstGeom>
          <a:solidFill>
            <a:srgbClr val="0D1B2E"/>
          </a:solidFill>
          <a:ln w="635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91840" y="2596896"/>
            <a:ext cx="384048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3B3B"/>
                </a:solidFill>
              </a:rPr>
              <a:t>Very High (4–6s+)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2459736"/>
            <a:ext cx="4023360" cy="621792"/>
          </a:xfrm>
          <a:prstGeom prst="rect">
            <a:avLst/>
          </a:prstGeom>
          <a:solidFill>
            <a:srgbClr val="0D1B2E"/>
          </a:solidFill>
          <a:ln w="635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79" y="2596896"/>
            <a:ext cx="384048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CC71"/>
                </a:solidFill>
              </a:rPr>
              <a:t>Controlled (&lt;500 ms)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18104"/>
            <a:ext cx="2560320" cy="621792"/>
          </a:xfrm>
          <a:prstGeom prst="rect">
            <a:avLst/>
          </a:prstGeom>
          <a:solidFill>
            <a:srgbClr val="112238"/>
          </a:solidFill>
          <a:ln w="635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3255264"/>
            <a:ext cx="2377439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3118104"/>
            <a:ext cx="4023360" cy="621792"/>
          </a:xfrm>
          <a:prstGeom prst="rect">
            <a:avLst/>
          </a:prstGeom>
          <a:solidFill>
            <a:srgbClr val="112238"/>
          </a:solidFill>
          <a:ln w="635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91840" y="3255264"/>
            <a:ext cx="384048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3B3B"/>
                </a:solidFill>
              </a:rPr>
              <a:t>Drops / unstable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3118104"/>
            <a:ext cx="4023360" cy="621792"/>
          </a:xfrm>
          <a:prstGeom prst="rect">
            <a:avLst/>
          </a:prstGeom>
          <a:solidFill>
            <a:srgbClr val="112238"/>
          </a:solidFill>
          <a:ln w="635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98079" y="3255264"/>
            <a:ext cx="384048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CC71"/>
                </a:solidFill>
              </a:rPr>
              <a:t>Stable &amp; consistent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776472"/>
            <a:ext cx="2560320" cy="621792"/>
          </a:xfrm>
          <a:prstGeom prst="rect">
            <a:avLst/>
          </a:prstGeom>
          <a:solidFill>
            <a:srgbClr val="0D1B2E"/>
          </a:solidFill>
          <a:ln w="635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3913632"/>
            <a:ext cx="2377439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Error Type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3776472"/>
            <a:ext cx="4023360" cy="621792"/>
          </a:xfrm>
          <a:prstGeom prst="rect">
            <a:avLst/>
          </a:prstGeom>
          <a:solidFill>
            <a:srgbClr val="0D1B2E"/>
          </a:solidFill>
          <a:ln w="635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91840" y="3913632"/>
            <a:ext cx="384048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3B3B"/>
                </a:solidFill>
              </a:rPr>
              <a:t>Slow client timeout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3776472"/>
            <a:ext cx="4023360" cy="621792"/>
          </a:xfrm>
          <a:prstGeom prst="rect">
            <a:avLst/>
          </a:prstGeom>
          <a:solidFill>
            <a:srgbClr val="0D1B2E"/>
          </a:solidFill>
          <a:ln w="635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98079" y="3913632"/>
            <a:ext cx="384048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CC71"/>
                </a:solidFill>
              </a:rPr>
              <a:t>Fast HTTP 503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434840"/>
            <a:ext cx="2560320" cy="621792"/>
          </a:xfrm>
          <a:prstGeom prst="rect">
            <a:avLst/>
          </a:prstGeom>
          <a:solidFill>
            <a:srgbClr val="112238"/>
          </a:solidFill>
          <a:ln w="635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4572000"/>
            <a:ext cx="2377439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Resource Use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0" y="4434840"/>
            <a:ext cx="4023360" cy="621792"/>
          </a:xfrm>
          <a:prstGeom prst="rect">
            <a:avLst/>
          </a:prstGeom>
          <a:solidFill>
            <a:srgbClr val="112238"/>
          </a:solidFill>
          <a:ln w="635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91840" y="4572000"/>
            <a:ext cx="384048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3B3B"/>
                </a:solidFill>
              </a:rPr>
              <a:t>Goroutine pile-up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06640" y="4434840"/>
            <a:ext cx="4023360" cy="621792"/>
          </a:xfrm>
          <a:prstGeom prst="rect">
            <a:avLst/>
          </a:prstGeom>
          <a:solidFill>
            <a:srgbClr val="112238"/>
          </a:solidFill>
          <a:ln w="635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98079" y="4572000"/>
            <a:ext cx="384048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CC71"/>
                </a:solidFill>
              </a:rPr>
              <a:t>Goroutines freed fast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093208"/>
            <a:ext cx="2560320" cy="621792"/>
          </a:xfrm>
          <a:prstGeom prst="rect">
            <a:avLst/>
          </a:prstGeom>
          <a:solidFill>
            <a:srgbClr val="0D1B2E"/>
          </a:solidFill>
          <a:ln w="635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5230368"/>
            <a:ext cx="2377439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UX Impact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0" y="5093208"/>
            <a:ext cx="4023360" cy="621792"/>
          </a:xfrm>
          <a:prstGeom prst="rect">
            <a:avLst/>
          </a:prstGeom>
          <a:solidFill>
            <a:srgbClr val="0D1B2E"/>
          </a:solidFill>
          <a:ln w="635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91840" y="5230368"/>
            <a:ext cx="384048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3B3B"/>
                </a:solidFill>
              </a:rPr>
              <a:t>Long waiting / hung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06640" y="5093208"/>
            <a:ext cx="4023360" cy="621792"/>
          </a:xfrm>
          <a:prstGeom prst="rect">
            <a:avLst/>
          </a:prstGeom>
          <a:solidFill>
            <a:srgbClr val="0D1B2E"/>
          </a:solidFill>
          <a:ln w="635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498079" y="5230368"/>
            <a:ext cx="384048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CC71"/>
                </a:solidFill>
              </a:rPr>
              <a:t>Quick error, retry ok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>
                <a:solidFill>
                  <a:srgbClr val="CCD6E0"/>
                </a:solidFill>
              </a:rPr>
              <a:t>Analytical outcome: Fail-Fast pattern eliminates cascading slowdowns while preserving system throughput.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1274552" cy="182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577840" cy="1417320"/>
          </a:xfrm>
          <a:prstGeom prst="rect">
            <a:avLst/>
          </a:prstGeom>
          <a:solidFill>
            <a:srgbClr val="10223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17043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Metrics-Driven Diagnosis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27631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Use CPU, memory, RPS, latency together — not in isolation.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097280"/>
            <a:ext cx="5577840" cy="1417320"/>
          </a:xfrm>
          <a:prstGeom prst="rect">
            <a:avLst/>
          </a:prstGeom>
          <a:solidFill>
            <a:srgbClr val="10223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17043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CPU-Bound Bottleneck Identified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627631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Memory stable; only CPU saturated → pinpoint root cause.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97480"/>
            <a:ext cx="5577840" cy="1417320"/>
          </a:xfrm>
          <a:prstGeom prst="rect">
            <a:avLst/>
          </a:prstGeom>
          <a:solidFill>
            <a:srgbClr val="10223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788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77063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Horizontal Scaling = Elasticity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27832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ECS auto-scaling absorbed load increases automatically.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697480"/>
            <a:ext cx="5577840" cy="1417320"/>
          </a:xfrm>
          <a:prstGeom prst="rect">
            <a:avLst/>
          </a:prstGeom>
          <a:solidFill>
            <a:srgbClr val="10223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2788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77063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Self-Healing Containers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227832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ECS restarted crashed tasks with no manual intervention.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97680"/>
            <a:ext cx="5577840" cy="1417320"/>
          </a:xfrm>
          <a:prstGeom prst="rect">
            <a:avLst/>
          </a:prstGeom>
          <a:solidFill>
            <a:srgbClr val="10223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37083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Fail-Fast Prevents Cascades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828032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200 ms timeout cap stopped slow dependency from starving resources.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297680"/>
            <a:ext cx="5577840" cy="1417320"/>
          </a:xfrm>
          <a:prstGeom prst="rect">
            <a:avLst/>
          </a:prstGeom>
          <a:solidFill>
            <a:srgbClr val="10223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☁️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37083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Cloud-Native Design Pays Off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4828032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Managed services (Fargate, ALB, CloudWatch) reduce ops burden.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172200"/>
            <a:ext cx="11457432" cy="548640"/>
          </a:xfrm>
          <a:prstGeom prst="rect">
            <a:avLst/>
          </a:prstGeom>
          <a:solidFill>
            <a:srgbClr val="004422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6236208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FFFFFF"/>
                </a:solidFill>
              </a:rPr>
              <a:t>"Scalability is not just adding resources — it's designing for failure."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918</Words>
  <Application>Microsoft Macintosh PowerPoint</Application>
  <PresentationFormat>Custom</PresentationFormat>
  <Paragraphs>217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Mayank Devangkumar Tamakuwala</cp:lastModifiedBy>
  <cp:revision>3</cp:revision>
  <dcterms:created xsi:type="dcterms:W3CDTF">2013-01-27T09:14:16Z</dcterms:created>
  <dcterms:modified xsi:type="dcterms:W3CDTF">2026-03-02T05:15:02Z</dcterms:modified>
  <cp:category/>
</cp:coreProperties>
</file>